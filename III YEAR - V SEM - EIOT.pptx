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10287000" cx="18288000"/>
  <p:notesSz cx="6858000" cy="9144000"/>
  <p:embeddedFontLst>
    <p:embeddedFont>
      <p:font typeface="Gluten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1" roundtripDataSignature="AMtx7miQHwAo4hrLR9lwHaueXHMmhHH30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Gluten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Gluten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7eb62b4f47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g37eb62b4f47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42f8a12797c3796b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42f8a12797c3796b_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42f8a12797c3796b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42f8a12797c3796b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42f8a12797c3796b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g42f8a12797c3796b_6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42f8a12797c3796b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g42f8a12797c3796b_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42f8a12797c3796b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42f8a12797c3796b_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42f8a12797c3796b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42f8a12797c3796b_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10.gif"/><Relationship Id="rId7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0.gif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8.png"/><Relationship Id="rId6" Type="http://schemas.openxmlformats.org/officeDocument/2006/relationships/image" Target="../media/image6.png"/><Relationship Id="rId7" Type="http://schemas.openxmlformats.org/officeDocument/2006/relationships/image" Target="../media/image10.gif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0.gif"/><Relationship Id="rId5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0.gif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0.gif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0.gif"/><Relationship Id="rId6" Type="http://schemas.openxmlformats.org/officeDocument/2006/relationships/image" Target="../media/image1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0.gif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0.gif"/><Relationship Id="rId6" Type="http://schemas.openxmlformats.org/officeDocument/2006/relationships/image" Target="../media/image1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0.gif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0.gif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6.png"/><Relationship Id="rId6" Type="http://schemas.openxmlformats.org/officeDocument/2006/relationships/image" Target="../media/image10.gif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14.png"/><Relationship Id="rId5" Type="http://schemas.openxmlformats.org/officeDocument/2006/relationships/image" Target="../media/image13.png"/><Relationship Id="rId6" Type="http://schemas.openxmlformats.org/officeDocument/2006/relationships/image" Target="../media/image1.png"/><Relationship Id="rId7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F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781050" y="-109553"/>
            <a:ext cx="11529208" cy="5771628"/>
          </a:xfrm>
          <a:custGeom>
            <a:rect b="b" l="l" r="r" t="t"/>
            <a:pathLst>
              <a:path extrusionOk="0" h="5771628" w="11529208">
                <a:moveTo>
                  <a:pt x="0" y="0"/>
                </a:moveTo>
                <a:lnTo>
                  <a:pt x="11529208" y="0"/>
                </a:lnTo>
                <a:lnTo>
                  <a:pt x="11529208" y="5771629"/>
                </a:lnTo>
                <a:lnTo>
                  <a:pt x="0" y="57716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"/>
          <p:cNvSpPr txBox="1"/>
          <p:nvPr/>
        </p:nvSpPr>
        <p:spPr>
          <a:xfrm>
            <a:off x="2551025" y="1006110"/>
            <a:ext cx="9046500" cy="3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3638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IOT ENABLED ULTRASONIC OBJECT DETECTION AND RANGING SYSTEM USING ARDUINO</a:t>
            </a:r>
            <a:endParaRPr b="1" sz="4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11597520" y="514345"/>
            <a:ext cx="4124152" cy="9258300"/>
          </a:xfrm>
          <a:custGeom>
            <a:rect b="b" l="l" r="r" t="t"/>
            <a:pathLst>
              <a:path extrusionOk="0" h="9258300" w="4124152">
                <a:moveTo>
                  <a:pt x="0" y="0"/>
                </a:moveTo>
                <a:lnTo>
                  <a:pt x="4124152" y="0"/>
                </a:lnTo>
                <a:lnTo>
                  <a:pt x="4124152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7" name="Google Shape;87;p1"/>
          <p:cNvSpPr/>
          <p:nvPr/>
        </p:nvSpPr>
        <p:spPr>
          <a:xfrm>
            <a:off x="17352904" y="8581587"/>
            <a:ext cx="415636" cy="428090"/>
          </a:xfrm>
          <a:custGeom>
            <a:rect b="b" l="l" r="r" t="t"/>
            <a:pathLst>
              <a:path extrusionOk="0" h="428090" w="415636">
                <a:moveTo>
                  <a:pt x="0" y="0"/>
                </a:moveTo>
                <a:lnTo>
                  <a:pt x="415637" y="0"/>
                </a:lnTo>
                <a:lnTo>
                  <a:pt x="415637" y="428089"/>
                </a:lnTo>
                <a:lnTo>
                  <a:pt x="0" y="42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8" name="Google Shape;88;p1"/>
          <p:cNvSpPr/>
          <p:nvPr/>
        </p:nvSpPr>
        <p:spPr>
          <a:xfrm>
            <a:off x="16226592" y="9258300"/>
            <a:ext cx="415636" cy="428090"/>
          </a:xfrm>
          <a:custGeom>
            <a:rect b="b" l="l" r="r" t="t"/>
            <a:pathLst>
              <a:path extrusionOk="0" h="428090" w="415636">
                <a:moveTo>
                  <a:pt x="0" y="0"/>
                </a:moveTo>
                <a:lnTo>
                  <a:pt x="415636" y="0"/>
                </a:lnTo>
                <a:lnTo>
                  <a:pt x="415636" y="428090"/>
                </a:lnTo>
                <a:lnTo>
                  <a:pt x="0" y="4280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9" name="Google Shape;89;p1"/>
          <p:cNvSpPr txBox="1"/>
          <p:nvPr/>
        </p:nvSpPr>
        <p:spPr>
          <a:xfrm>
            <a:off x="1029125" y="5457450"/>
            <a:ext cx="10568400" cy="45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>
                <a:solidFill>
                  <a:srgbClr val="363837"/>
                </a:solidFill>
                <a:latin typeface="Gluten"/>
                <a:ea typeface="Gluten"/>
                <a:cs typeface="Gluten"/>
                <a:sym typeface="Gluten"/>
              </a:rPr>
              <a:t>2303811710622003 ABITHA K R</a:t>
            </a:r>
            <a:endParaRPr sz="3700">
              <a:solidFill>
                <a:srgbClr val="363837"/>
              </a:solidFill>
              <a:latin typeface="Gluten"/>
              <a:ea typeface="Gluten"/>
              <a:cs typeface="Gluten"/>
              <a:sym typeface="Gluten"/>
            </a:endParaRPr>
          </a:p>
          <a:p>
            <a:pPr indent="0" lvl="0" marL="0" marR="0" rtl="0" algn="ctr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>
                <a:solidFill>
                  <a:srgbClr val="363837"/>
                </a:solidFill>
                <a:latin typeface="Gluten"/>
                <a:ea typeface="Gluten"/>
                <a:cs typeface="Gluten"/>
                <a:sym typeface="Gluten"/>
              </a:rPr>
              <a:t>2303811710622008 AKALYA B</a:t>
            </a:r>
            <a:endParaRPr sz="3700">
              <a:solidFill>
                <a:srgbClr val="363837"/>
              </a:solidFill>
              <a:latin typeface="Gluten"/>
              <a:ea typeface="Gluten"/>
              <a:cs typeface="Gluten"/>
              <a:sym typeface="Gluten"/>
            </a:endParaRPr>
          </a:p>
          <a:p>
            <a:pPr indent="0" lvl="0" marL="0" marR="0" rtl="0" algn="ctr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>
                <a:solidFill>
                  <a:srgbClr val="363837"/>
                </a:solidFill>
                <a:latin typeface="Gluten"/>
                <a:ea typeface="Gluten"/>
                <a:cs typeface="Gluten"/>
                <a:sym typeface="Gluten"/>
              </a:rPr>
              <a:t>23038111710622026 GAYATHRI K K</a:t>
            </a:r>
            <a:r>
              <a:rPr lang="en-US" sz="4700">
                <a:solidFill>
                  <a:srgbClr val="363837"/>
                </a:solidFill>
                <a:latin typeface="Gluten"/>
                <a:ea typeface="Gluten"/>
                <a:cs typeface="Gluten"/>
                <a:sym typeface="Gluten"/>
              </a:rPr>
              <a:t> </a:t>
            </a:r>
            <a:endParaRPr sz="4700">
              <a:solidFill>
                <a:srgbClr val="363837"/>
              </a:solidFill>
              <a:latin typeface="Gluten"/>
              <a:ea typeface="Gluten"/>
              <a:cs typeface="Gluten"/>
              <a:sym typeface="Gluten"/>
            </a:endParaRPr>
          </a:p>
          <a:p>
            <a:pPr indent="0" lvl="0" marL="0" marR="0" rtl="0" algn="ctr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rgbClr val="363837"/>
                </a:solidFill>
                <a:latin typeface="Gluten"/>
                <a:ea typeface="Gluten"/>
                <a:cs typeface="Gluten"/>
                <a:sym typeface="Gluten"/>
              </a:rPr>
              <a:t>Guided by:</a:t>
            </a:r>
            <a:endParaRPr sz="3400">
              <a:solidFill>
                <a:srgbClr val="363837"/>
              </a:solidFill>
              <a:latin typeface="Gluten"/>
              <a:ea typeface="Gluten"/>
              <a:cs typeface="Gluten"/>
              <a:sym typeface="Gluten"/>
            </a:endParaRPr>
          </a:p>
          <a:p>
            <a:pPr indent="0" lvl="0" marL="0" marR="0" rtl="0" algn="ctr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rgbClr val="363837"/>
                </a:solidFill>
                <a:latin typeface="Gluten"/>
                <a:ea typeface="Gluten"/>
                <a:cs typeface="Gluten"/>
                <a:sym typeface="Gluten"/>
              </a:rPr>
              <a:t>Mr.MANI.P</a:t>
            </a:r>
            <a:endParaRPr sz="3400">
              <a:solidFill>
                <a:srgbClr val="363837"/>
              </a:solidFill>
              <a:latin typeface="Gluten"/>
              <a:ea typeface="Gluten"/>
              <a:cs typeface="Gluten"/>
              <a:sym typeface="Gluten"/>
            </a:endParaRPr>
          </a:p>
          <a:p>
            <a:pPr indent="0" lvl="0" marL="0" marR="0" rtl="0" algn="ctr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rgbClr val="363837"/>
                </a:solidFill>
                <a:latin typeface="Gluten"/>
                <a:ea typeface="Gluten"/>
                <a:cs typeface="Gluten"/>
                <a:sym typeface="Gluten"/>
              </a:rPr>
              <a:t>Assistant professor (ECE)</a:t>
            </a:r>
            <a:endParaRPr sz="3400">
              <a:solidFill>
                <a:srgbClr val="363837"/>
              </a:solidFill>
              <a:latin typeface="Gluten"/>
              <a:ea typeface="Gluten"/>
              <a:cs typeface="Gluten"/>
              <a:sym typeface="Gluten"/>
            </a:endParaRPr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6950" y="243050"/>
            <a:ext cx="1605725" cy="138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flipH="1">
            <a:off x="15562028" y="-20900"/>
            <a:ext cx="2274975" cy="227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F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/>
          <p:nvPr/>
        </p:nvSpPr>
        <p:spPr>
          <a:xfrm>
            <a:off x="1416975" y="3013550"/>
            <a:ext cx="14851200" cy="66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7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63837"/>
              </a:buClr>
              <a:buSzPts val="3600"/>
              <a:buFont typeface="Times New Roman"/>
              <a:buChar char="❖"/>
            </a:pPr>
            <a:r>
              <a:rPr lang="en-US" sz="3600">
                <a:solidFill>
                  <a:srgbClr val="3638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Manual methods of object detection are time-consuming and less accurate.</a:t>
            </a:r>
            <a:endParaRPr sz="3600">
              <a:solidFill>
                <a:srgbClr val="36383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63837"/>
              </a:buClr>
              <a:buSzPts val="3600"/>
              <a:buFont typeface="Times New Roman"/>
              <a:buChar char="❖"/>
            </a:pPr>
            <a:r>
              <a:rPr lang="en-US" sz="3600">
                <a:solidFill>
                  <a:srgbClr val="3638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Traditional sensors cover only a limited area and cannot scan multiple directions effectively.</a:t>
            </a:r>
            <a:endParaRPr sz="3600">
              <a:solidFill>
                <a:srgbClr val="36383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63837"/>
              </a:buClr>
              <a:buSzPts val="3600"/>
              <a:buFont typeface="Times New Roman"/>
              <a:buChar char="❖"/>
            </a:pPr>
            <a:r>
              <a:rPr lang="en-US" sz="3600">
                <a:solidFill>
                  <a:srgbClr val="3638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is a need for a low-cost, simple, and efficient radar system that can detect objects and measure their distance automatically.</a:t>
            </a:r>
            <a:endParaRPr sz="3600">
              <a:solidFill>
                <a:srgbClr val="36383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63837"/>
              </a:buClr>
              <a:buSzPts val="3600"/>
              <a:buFont typeface="Times New Roman"/>
              <a:buChar char="❖"/>
            </a:pPr>
            <a:r>
              <a:rPr lang="en-US" sz="3600">
                <a:solidFill>
                  <a:srgbClr val="3638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should be able to scan an area by rotating the sensor and identify the direction and distance of nearby obstacles.</a:t>
            </a:r>
            <a:endParaRPr sz="3600">
              <a:solidFill>
                <a:srgbClr val="36383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3008700" y="243050"/>
            <a:ext cx="118173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>
                <a:solidFill>
                  <a:srgbClr val="3638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2"/>
          <p:cNvSpPr/>
          <p:nvPr/>
        </p:nvSpPr>
        <p:spPr>
          <a:xfrm rot="585962">
            <a:off x="12564917" y="902524"/>
            <a:ext cx="415636" cy="428090"/>
          </a:xfrm>
          <a:custGeom>
            <a:rect b="b" l="l" r="r" t="t"/>
            <a:pathLst>
              <a:path extrusionOk="0" h="428090" w="415636">
                <a:moveTo>
                  <a:pt x="0" y="0"/>
                </a:moveTo>
                <a:lnTo>
                  <a:pt x="415637" y="0"/>
                </a:lnTo>
                <a:lnTo>
                  <a:pt x="415637" y="428090"/>
                </a:lnTo>
                <a:lnTo>
                  <a:pt x="0" y="4280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9" name="Google Shape;99;p2"/>
          <p:cNvSpPr/>
          <p:nvPr/>
        </p:nvSpPr>
        <p:spPr>
          <a:xfrm rot="585962">
            <a:off x="11320101" y="410135"/>
            <a:ext cx="415636" cy="428090"/>
          </a:xfrm>
          <a:custGeom>
            <a:rect b="b" l="l" r="r" t="t"/>
            <a:pathLst>
              <a:path extrusionOk="0" h="428090" w="415636">
                <a:moveTo>
                  <a:pt x="0" y="0"/>
                </a:moveTo>
                <a:lnTo>
                  <a:pt x="415636" y="0"/>
                </a:lnTo>
                <a:lnTo>
                  <a:pt x="415636" y="428090"/>
                </a:lnTo>
                <a:lnTo>
                  <a:pt x="0" y="4280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0" name="Google Shape;100;p2"/>
          <p:cNvSpPr/>
          <p:nvPr/>
        </p:nvSpPr>
        <p:spPr>
          <a:xfrm rot="316995">
            <a:off x="5491599" y="9508798"/>
            <a:ext cx="415636" cy="428090"/>
          </a:xfrm>
          <a:custGeom>
            <a:rect b="b" l="l" r="r" t="t"/>
            <a:pathLst>
              <a:path extrusionOk="0" h="428090" w="415636">
                <a:moveTo>
                  <a:pt x="0" y="0"/>
                </a:moveTo>
                <a:lnTo>
                  <a:pt x="415636" y="0"/>
                </a:lnTo>
                <a:lnTo>
                  <a:pt x="415636" y="428090"/>
                </a:lnTo>
                <a:lnTo>
                  <a:pt x="0" y="4280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1" name="Google Shape;101;p2"/>
          <p:cNvSpPr/>
          <p:nvPr/>
        </p:nvSpPr>
        <p:spPr>
          <a:xfrm rot="316995">
            <a:off x="3739343" y="9377419"/>
            <a:ext cx="415636" cy="428090"/>
          </a:xfrm>
          <a:custGeom>
            <a:rect b="b" l="l" r="r" t="t"/>
            <a:pathLst>
              <a:path extrusionOk="0" h="428090" w="415636">
                <a:moveTo>
                  <a:pt x="0" y="0"/>
                </a:moveTo>
                <a:lnTo>
                  <a:pt x="415636" y="0"/>
                </a:lnTo>
                <a:lnTo>
                  <a:pt x="415636" y="428090"/>
                </a:lnTo>
                <a:lnTo>
                  <a:pt x="0" y="4280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02" name="Google Shape;102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15562028" y="-20900"/>
            <a:ext cx="2274975" cy="227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950" y="243050"/>
            <a:ext cx="1605725" cy="138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F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"/>
          <p:cNvSpPr txBox="1"/>
          <p:nvPr/>
        </p:nvSpPr>
        <p:spPr>
          <a:xfrm>
            <a:off x="1482650" y="2254075"/>
            <a:ext cx="14907000" cy="74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36383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63837"/>
              </a:buClr>
              <a:buSzPts val="3600"/>
              <a:buFont typeface="Times New Roman"/>
              <a:buChar char="●"/>
            </a:pPr>
            <a:r>
              <a:rPr lang="en-US" sz="3600">
                <a:solidFill>
                  <a:srgbClr val="3638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design a radar system that can detect objects using an ultrasonic sensor mounted on a servo motor.</a:t>
            </a:r>
            <a:endParaRPr sz="3600">
              <a:solidFill>
                <a:srgbClr val="36383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63837"/>
              </a:buClr>
              <a:buSzPts val="3600"/>
              <a:buFont typeface="Times New Roman"/>
              <a:buChar char="●"/>
            </a:pPr>
            <a:r>
              <a:rPr lang="en-US" sz="3600">
                <a:solidFill>
                  <a:srgbClr val="3638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measure the distance and direction of objects around the sensor.</a:t>
            </a:r>
            <a:endParaRPr sz="3600">
              <a:solidFill>
                <a:srgbClr val="36383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63837"/>
              </a:buClr>
              <a:buSzPts val="3600"/>
              <a:buFont typeface="Times New Roman"/>
              <a:buChar char="●"/>
            </a:pPr>
            <a:r>
              <a:rPr lang="en-US" sz="3600">
                <a:solidFill>
                  <a:srgbClr val="3638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visualize the detected objects on a radar-like interface (using software such as Processing IDE).</a:t>
            </a:r>
            <a:endParaRPr sz="3600">
              <a:solidFill>
                <a:srgbClr val="36383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63837"/>
              </a:buClr>
              <a:buSzPts val="3600"/>
              <a:buFont typeface="Times New Roman"/>
              <a:buChar char="●"/>
            </a:pPr>
            <a:r>
              <a:rPr lang="en-US" sz="3600">
                <a:solidFill>
                  <a:srgbClr val="3638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provide a simple and cost-effective model for understanding radar principles using Arduino.</a:t>
            </a:r>
            <a:endParaRPr sz="3600">
              <a:solidFill>
                <a:srgbClr val="36383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" name="Google Shape;109;p4"/>
          <p:cNvSpPr txBox="1"/>
          <p:nvPr/>
        </p:nvSpPr>
        <p:spPr>
          <a:xfrm>
            <a:off x="4335588" y="563864"/>
            <a:ext cx="91635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>
                <a:solidFill>
                  <a:srgbClr val="3638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" name="Google Shape;110;p4"/>
          <p:cNvSpPr/>
          <p:nvPr/>
        </p:nvSpPr>
        <p:spPr>
          <a:xfrm rot="6092077">
            <a:off x="14018873" y="122531"/>
            <a:ext cx="2099229" cy="2268099"/>
          </a:xfrm>
          <a:custGeom>
            <a:rect b="b" l="l" r="r" t="t"/>
            <a:pathLst>
              <a:path extrusionOk="0" h="2267646" w="2098809">
                <a:moveTo>
                  <a:pt x="0" y="0"/>
                </a:moveTo>
                <a:lnTo>
                  <a:pt x="2098809" y="0"/>
                </a:lnTo>
                <a:lnTo>
                  <a:pt x="2098809" y="2267646"/>
                </a:lnTo>
                <a:lnTo>
                  <a:pt x="0" y="22676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1" name="Google Shape;111;p4"/>
          <p:cNvSpPr/>
          <p:nvPr/>
        </p:nvSpPr>
        <p:spPr>
          <a:xfrm rot="-410579">
            <a:off x="14252565" y="700576"/>
            <a:ext cx="415636" cy="428090"/>
          </a:xfrm>
          <a:custGeom>
            <a:rect b="b" l="l" r="r" t="t"/>
            <a:pathLst>
              <a:path extrusionOk="0" h="428090" w="415636">
                <a:moveTo>
                  <a:pt x="0" y="0"/>
                </a:moveTo>
                <a:lnTo>
                  <a:pt x="415636" y="0"/>
                </a:lnTo>
                <a:lnTo>
                  <a:pt x="415636" y="428090"/>
                </a:lnTo>
                <a:lnTo>
                  <a:pt x="0" y="4280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2" name="Google Shape;112;p4"/>
          <p:cNvSpPr/>
          <p:nvPr/>
        </p:nvSpPr>
        <p:spPr>
          <a:xfrm rot="-410579">
            <a:off x="12540209" y="814655"/>
            <a:ext cx="415636" cy="428090"/>
          </a:xfrm>
          <a:custGeom>
            <a:rect b="b" l="l" r="r" t="t"/>
            <a:pathLst>
              <a:path extrusionOk="0" h="428090" w="415636">
                <a:moveTo>
                  <a:pt x="0" y="0"/>
                </a:moveTo>
                <a:lnTo>
                  <a:pt x="415636" y="0"/>
                </a:lnTo>
                <a:lnTo>
                  <a:pt x="415636" y="428090"/>
                </a:lnTo>
                <a:lnTo>
                  <a:pt x="0" y="4280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3" name="Google Shape;113;p4"/>
          <p:cNvSpPr/>
          <p:nvPr/>
        </p:nvSpPr>
        <p:spPr>
          <a:xfrm rot="316995">
            <a:off x="5599666" y="9352430"/>
            <a:ext cx="415636" cy="428090"/>
          </a:xfrm>
          <a:custGeom>
            <a:rect b="b" l="l" r="r" t="t"/>
            <a:pathLst>
              <a:path extrusionOk="0" h="428090" w="415636">
                <a:moveTo>
                  <a:pt x="0" y="0"/>
                </a:moveTo>
                <a:lnTo>
                  <a:pt x="415636" y="0"/>
                </a:lnTo>
                <a:lnTo>
                  <a:pt x="415636" y="428090"/>
                </a:lnTo>
                <a:lnTo>
                  <a:pt x="0" y="4280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4" name="Google Shape;114;p4"/>
          <p:cNvSpPr/>
          <p:nvPr/>
        </p:nvSpPr>
        <p:spPr>
          <a:xfrm rot="316995">
            <a:off x="3429785" y="9352430"/>
            <a:ext cx="415636" cy="428090"/>
          </a:xfrm>
          <a:custGeom>
            <a:rect b="b" l="l" r="r" t="t"/>
            <a:pathLst>
              <a:path extrusionOk="0" h="428090" w="415636">
                <a:moveTo>
                  <a:pt x="0" y="0"/>
                </a:moveTo>
                <a:lnTo>
                  <a:pt x="415637" y="0"/>
                </a:lnTo>
                <a:lnTo>
                  <a:pt x="415637" y="428090"/>
                </a:lnTo>
                <a:lnTo>
                  <a:pt x="0" y="4280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15" name="Google Shape;115;p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59345" y="7118931"/>
            <a:ext cx="7893645" cy="20628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flipH="1">
            <a:off x="15562028" y="-20900"/>
            <a:ext cx="2274975" cy="227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flipH="1">
            <a:off x="15562028" y="-20900"/>
            <a:ext cx="2274975" cy="227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6950" y="243050"/>
            <a:ext cx="1605725" cy="138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F1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7eb62b4f47_0_2"/>
          <p:cNvSpPr txBox="1"/>
          <p:nvPr/>
        </p:nvSpPr>
        <p:spPr>
          <a:xfrm>
            <a:off x="2467875" y="356100"/>
            <a:ext cx="131721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>
                <a:solidFill>
                  <a:srgbClr val="3638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BLOCK</a:t>
            </a:r>
            <a:r>
              <a:rPr lang="en-US" sz="9000">
                <a:solidFill>
                  <a:srgbClr val="3638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DIAGRAM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4" name="Google Shape;124;g37eb62b4f47_0_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5562028" y="-20900"/>
            <a:ext cx="2274975" cy="227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g37eb62b4f47_0_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950" y="243050"/>
            <a:ext cx="1605725" cy="138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g37eb62b4f47_0_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89975" y="2254075"/>
            <a:ext cx="15815999" cy="7492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F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42f8a12797c3796b_27"/>
          <p:cNvSpPr txBox="1"/>
          <p:nvPr/>
        </p:nvSpPr>
        <p:spPr>
          <a:xfrm>
            <a:off x="3167732" y="243062"/>
            <a:ext cx="125070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>
                <a:solidFill>
                  <a:srgbClr val="3638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BLOCK DIAGRAM EXPLANATION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" name="Google Shape;132;g42f8a12797c3796b_27"/>
          <p:cNvSpPr/>
          <p:nvPr/>
        </p:nvSpPr>
        <p:spPr>
          <a:xfrm rot="318674">
            <a:off x="10752226" y="9044333"/>
            <a:ext cx="415341" cy="427786"/>
          </a:xfrm>
          <a:custGeom>
            <a:rect b="b" l="l" r="r" t="t"/>
            <a:pathLst>
              <a:path extrusionOk="0" h="428090" w="415636">
                <a:moveTo>
                  <a:pt x="0" y="0"/>
                </a:moveTo>
                <a:lnTo>
                  <a:pt x="415636" y="0"/>
                </a:lnTo>
                <a:lnTo>
                  <a:pt x="415636" y="428090"/>
                </a:lnTo>
                <a:lnTo>
                  <a:pt x="0" y="4280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3" name="Google Shape;133;g42f8a12797c3796b_27"/>
          <p:cNvSpPr/>
          <p:nvPr/>
        </p:nvSpPr>
        <p:spPr>
          <a:xfrm rot="318674">
            <a:off x="8709438" y="9445454"/>
            <a:ext cx="415341" cy="427786"/>
          </a:xfrm>
          <a:custGeom>
            <a:rect b="b" l="l" r="r" t="t"/>
            <a:pathLst>
              <a:path extrusionOk="0" h="428090" w="415636">
                <a:moveTo>
                  <a:pt x="0" y="0"/>
                </a:moveTo>
                <a:lnTo>
                  <a:pt x="415637" y="0"/>
                </a:lnTo>
                <a:lnTo>
                  <a:pt x="415637" y="428090"/>
                </a:lnTo>
                <a:lnTo>
                  <a:pt x="0" y="4280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34" name="Google Shape;134;g42f8a12797c3796b_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15562028" y="-20900"/>
            <a:ext cx="2274975" cy="227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g42f8a12797c3796b_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15562028" y="-20900"/>
            <a:ext cx="2274975" cy="227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g42f8a12797c3796b_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950" y="243050"/>
            <a:ext cx="1605725" cy="138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g42f8a12797c3796b_27"/>
          <p:cNvSpPr txBox="1"/>
          <p:nvPr/>
        </p:nvSpPr>
        <p:spPr>
          <a:xfrm>
            <a:off x="861300" y="3617878"/>
            <a:ext cx="16565400" cy="49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63837"/>
              </a:buClr>
              <a:buSzPts val="3600"/>
              <a:buFont typeface="Times New Roman"/>
              <a:buChar char="❖"/>
            </a:pPr>
            <a:r>
              <a:rPr lang="en-US" sz="3600">
                <a:solidFill>
                  <a:srgbClr val="3638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Power Supply gives 5V power to Arduino, sensor, and servo motor.</a:t>
            </a:r>
            <a:endParaRPr sz="3600">
              <a:solidFill>
                <a:srgbClr val="36383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63837"/>
              </a:buClr>
              <a:buSzPts val="3600"/>
              <a:buFont typeface="Times New Roman"/>
              <a:buChar char="❖"/>
            </a:pPr>
            <a:r>
              <a:rPr lang="en-US" sz="3600">
                <a:solidFill>
                  <a:srgbClr val="3638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Arduino UNO controls the sensor and motor, and processes all signals.</a:t>
            </a:r>
            <a:endParaRPr sz="3600">
              <a:solidFill>
                <a:srgbClr val="36383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63837"/>
              </a:buClr>
              <a:buSzPts val="3600"/>
              <a:buFont typeface="Times New Roman"/>
              <a:buChar char="❖"/>
            </a:pPr>
            <a:r>
              <a:rPr lang="en-US" sz="3600">
                <a:solidFill>
                  <a:srgbClr val="3638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Ultrasonic Sensor detects the distance of objects by sending and receiving sound waves.</a:t>
            </a:r>
            <a:endParaRPr sz="3600">
              <a:solidFill>
                <a:srgbClr val="36383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63837"/>
              </a:buClr>
              <a:buSzPts val="3600"/>
              <a:buFont typeface="Times New Roman"/>
              <a:buChar char="❖"/>
            </a:pPr>
            <a:r>
              <a:rPr lang="en-US" sz="3600">
                <a:solidFill>
                  <a:srgbClr val="3638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Servo Motor rotates the sensor, and the detected data is shown on the display as a radar view.</a:t>
            </a:r>
            <a:endParaRPr sz="3600">
              <a:solidFill>
                <a:srgbClr val="36383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F1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"/>
          <p:cNvSpPr txBox="1"/>
          <p:nvPr/>
        </p:nvSpPr>
        <p:spPr>
          <a:xfrm>
            <a:off x="861300" y="1809275"/>
            <a:ext cx="16565400" cy="82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63837"/>
              </a:buClr>
              <a:buSzPts val="3600"/>
              <a:buFont typeface="Times New Roman"/>
              <a:buChar char="❖"/>
            </a:pPr>
            <a:r>
              <a:rPr lang="en-US" sz="3600">
                <a:solidFill>
                  <a:srgbClr val="3638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Arduino UNO – The main microcontroller that processes sensor data and controls the servo motor rotation.</a:t>
            </a:r>
            <a:endParaRPr sz="3600">
              <a:solidFill>
                <a:srgbClr val="36383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63837"/>
              </a:buClr>
              <a:buSzPts val="3600"/>
              <a:buFont typeface="Times New Roman"/>
              <a:buChar char="❖"/>
            </a:pPr>
            <a:r>
              <a:rPr lang="en-US" sz="3600">
                <a:solidFill>
                  <a:srgbClr val="3638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Ultrasonic Sensor (HC-SR04) – Used to measure the distance to nearby objects by sending and receiving ultrasonic pulses.</a:t>
            </a:r>
            <a:endParaRPr sz="3600">
              <a:solidFill>
                <a:srgbClr val="36383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63837"/>
              </a:buClr>
              <a:buSzPts val="3600"/>
              <a:buFont typeface="Times New Roman"/>
              <a:buChar char="❖"/>
            </a:pPr>
            <a:r>
              <a:rPr lang="en-US" sz="3600">
                <a:solidFill>
                  <a:srgbClr val="3638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Servo Motor (SG90) – Rotates the ultrasonic sensor in a specific range (e.g., 0°–180°) to scan the surroundings.</a:t>
            </a:r>
            <a:endParaRPr sz="3600">
              <a:solidFill>
                <a:srgbClr val="36383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63837"/>
              </a:buClr>
              <a:buSzPts val="3600"/>
              <a:buFont typeface="Times New Roman"/>
              <a:buChar char="❖"/>
            </a:pPr>
            <a:r>
              <a:rPr lang="en-US" sz="3600">
                <a:solidFill>
                  <a:srgbClr val="3638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Breadboard and Jumper Wires – Used to make necessary electrical connections.</a:t>
            </a:r>
            <a:endParaRPr sz="3600">
              <a:solidFill>
                <a:srgbClr val="36383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63837"/>
              </a:buClr>
              <a:buSzPts val="3600"/>
              <a:buFont typeface="Times New Roman"/>
              <a:buChar char="❖"/>
            </a:pPr>
            <a:r>
              <a:rPr lang="en-US" sz="3600">
                <a:solidFill>
                  <a:srgbClr val="3638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Power Supply (5V/USB) – Powers the Arduino and components.</a:t>
            </a:r>
            <a:endParaRPr sz="3600">
              <a:solidFill>
                <a:srgbClr val="36383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63837"/>
              </a:buClr>
              <a:buSzPts val="3600"/>
              <a:buFont typeface="Times New Roman"/>
              <a:buChar char="❖"/>
            </a:pPr>
            <a:r>
              <a:rPr lang="en-US" sz="3600">
                <a:solidFill>
                  <a:srgbClr val="3638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Processing IDE – For displaying radar visualization on a computer screen.</a:t>
            </a:r>
            <a:endParaRPr sz="3600">
              <a:solidFill>
                <a:srgbClr val="36383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" name="Google Shape;143;p5"/>
          <p:cNvSpPr txBox="1"/>
          <p:nvPr/>
        </p:nvSpPr>
        <p:spPr>
          <a:xfrm>
            <a:off x="3075925" y="423875"/>
            <a:ext cx="125070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>
                <a:solidFill>
                  <a:srgbClr val="3638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HARDWARE MODULE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" name="Google Shape;144;p5"/>
          <p:cNvSpPr/>
          <p:nvPr/>
        </p:nvSpPr>
        <p:spPr>
          <a:xfrm rot="318674">
            <a:off x="10752226" y="9044333"/>
            <a:ext cx="415341" cy="427786"/>
          </a:xfrm>
          <a:custGeom>
            <a:rect b="b" l="l" r="r" t="t"/>
            <a:pathLst>
              <a:path extrusionOk="0" h="428090" w="415636">
                <a:moveTo>
                  <a:pt x="0" y="0"/>
                </a:moveTo>
                <a:lnTo>
                  <a:pt x="415636" y="0"/>
                </a:lnTo>
                <a:lnTo>
                  <a:pt x="415636" y="428090"/>
                </a:lnTo>
                <a:lnTo>
                  <a:pt x="0" y="4280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5" name="Google Shape;145;p5"/>
          <p:cNvSpPr/>
          <p:nvPr/>
        </p:nvSpPr>
        <p:spPr>
          <a:xfrm rot="318674">
            <a:off x="8709438" y="9445454"/>
            <a:ext cx="415341" cy="427786"/>
          </a:xfrm>
          <a:custGeom>
            <a:rect b="b" l="l" r="r" t="t"/>
            <a:pathLst>
              <a:path extrusionOk="0" h="428090" w="415636">
                <a:moveTo>
                  <a:pt x="0" y="0"/>
                </a:moveTo>
                <a:lnTo>
                  <a:pt x="415637" y="0"/>
                </a:lnTo>
                <a:lnTo>
                  <a:pt x="415637" y="428090"/>
                </a:lnTo>
                <a:lnTo>
                  <a:pt x="0" y="4280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46" name="Google Shape;14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15562028" y="-20900"/>
            <a:ext cx="2274975" cy="227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15562028" y="-20900"/>
            <a:ext cx="2274975" cy="227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950" y="243050"/>
            <a:ext cx="1605725" cy="138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F1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42f8a12797c3796b_10"/>
          <p:cNvSpPr txBox="1"/>
          <p:nvPr/>
        </p:nvSpPr>
        <p:spPr>
          <a:xfrm>
            <a:off x="3341775" y="243051"/>
            <a:ext cx="122412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>
                <a:solidFill>
                  <a:srgbClr val="3638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CIRCUIT DIAGRAM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g42f8a12797c3796b_10"/>
          <p:cNvSpPr/>
          <p:nvPr/>
        </p:nvSpPr>
        <p:spPr>
          <a:xfrm rot="318674">
            <a:off x="10752226" y="9044333"/>
            <a:ext cx="415341" cy="427786"/>
          </a:xfrm>
          <a:custGeom>
            <a:rect b="b" l="l" r="r" t="t"/>
            <a:pathLst>
              <a:path extrusionOk="0" h="428090" w="415636">
                <a:moveTo>
                  <a:pt x="0" y="0"/>
                </a:moveTo>
                <a:lnTo>
                  <a:pt x="415636" y="0"/>
                </a:lnTo>
                <a:lnTo>
                  <a:pt x="415636" y="428090"/>
                </a:lnTo>
                <a:lnTo>
                  <a:pt x="0" y="4280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5" name="Google Shape;155;g42f8a12797c3796b_10"/>
          <p:cNvSpPr/>
          <p:nvPr/>
        </p:nvSpPr>
        <p:spPr>
          <a:xfrm rot="318674">
            <a:off x="8709438" y="9445454"/>
            <a:ext cx="415341" cy="427786"/>
          </a:xfrm>
          <a:custGeom>
            <a:rect b="b" l="l" r="r" t="t"/>
            <a:pathLst>
              <a:path extrusionOk="0" h="428090" w="415636">
                <a:moveTo>
                  <a:pt x="0" y="0"/>
                </a:moveTo>
                <a:lnTo>
                  <a:pt x="415637" y="0"/>
                </a:lnTo>
                <a:lnTo>
                  <a:pt x="415637" y="428090"/>
                </a:lnTo>
                <a:lnTo>
                  <a:pt x="0" y="4280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56" name="Google Shape;156;g42f8a12797c3796b_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15562028" y="-20900"/>
            <a:ext cx="2274975" cy="227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g42f8a12797c3796b_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15562028" y="-20900"/>
            <a:ext cx="2274975" cy="227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g42f8a12797c3796b_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950" y="243050"/>
            <a:ext cx="1605725" cy="138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g42f8a12797c3796b_1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41775" y="2669762"/>
            <a:ext cx="10315575" cy="531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F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42f8a12797c3796b_67"/>
          <p:cNvSpPr txBox="1"/>
          <p:nvPr/>
        </p:nvSpPr>
        <p:spPr>
          <a:xfrm>
            <a:off x="1081638" y="1785858"/>
            <a:ext cx="16565400" cy="82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63837"/>
              </a:buClr>
              <a:buSzPts val="3600"/>
              <a:buFont typeface="Times New Roman"/>
              <a:buChar char="❖"/>
            </a:pPr>
            <a:r>
              <a:rPr lang="en-US" sz="3600">
                <a:solidFill>
                  <a:srgbClr val="3638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Arduino is the main part that controls the whole radar system.</a:t>
            </a:r>
            <a:endParaRPr sz="3600">
              <a:solidFill>
                <a:srgbClr val="36383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63837"/>
              </a:buClr>
              <a:buSzPts val="3600"/>
              <a:buFont typeface="Times New Roman"/>
              <a:buChar char="❖"/>
            </a:pPr>
            <a:r>
              <a:rPr lang="en-US" sz="3600">
                <a:solidFill>
                  <a:srgbClr val="3638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Ultrasonic sensor is connected to Arduino to detect objects.</a:t>
            </a:r>
            <a:endParaRPr sz="3600">
              <a:solidFill>
                <a:srgbClr val="36383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63837"/>
              </a:buClr>
              <a:buSzPts val="3600"/>
              <a:buFont typeface="Times New Roman"/>
              <a:buChar char="❖"/>
            </a:pPr>
            <a:r>
              <a:rPr lang="en-US" sz="3600">
                <a:solidFill>
                  <a:srgbClr val="3638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Trig pin and Echo pin of the sensor are connected to Arduino pins to send and receive signals.</a:t>
            </a:r>
            <a:endParaRPr sz="3600">
              <a:solidFill>
                <a:srgbClr val="36383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63837"/>
              </a:buClr>
              <a:buSzPts val="3600"/>
              <a:buFont typeface="Times New Roman"/>
              <a:buChar char="❖"/>
            </a:pPr>
            <a:r>
              <a:rPr lang="en-US" sz="3600">
                <a:solidFill>
                  <a:srgbClr val="3638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Servo motor is connected to Arduino to rotate the sensor from 0° to 180°.</a:t>
            </a:r>
            <a:endParaRPr sz="3600">
              <a:solidFill>
                <a:srgbClr val="36383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63837"/>
              </a:buClr>
              <a:buSzPts val="3600"/>
              <a:buFont typeface="Times New Roman"/>
              <a:buChar char="❖"/>
            </a:pPr>
            <a:r>
              <a:rPr lang="en-US" sz="3600">
                <a:solidFill>
                  <a:srgbClr val="3638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Both the sensor and servo motor get power from the Arduino’s 5V and GND pins.</a:t>
            </a:r>
            <a:endParaRPr sz="3600">
              <a:solidFill>
                <a:srgbClr val="36383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63837"/>
              </a:buClr>
              <a:buSzPts val="3600"/>
              <a:buFont typeface="Times New Roman"/>
              <a:buChar char="❖"/>
            </a:pPr>
            <a:r>
              <a:rPr lang="en-US" sz="3600">
                <a:solidFill>
                  <a:srgbClr val="3638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the Arduino runs, the servo moves the sensor and the sensor detects any object in front of it.</a:t>
            </a:r>
            <a:endParaRPr sz="3600">
              <a:solidFill>
                <a:srgbClr val="36383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63837"/>
              </a:buClr>
              <a:buSzPts val="3600"/>
              <a:buFont typeface="Times New Roman"/>
              <a:buChar char="❖"/>
            </a:pPr>
            <a:r>
              <a:rPr lang="en-US" sz="3600">
                <a:solidFill>
                  <a:srgbClr val="3638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distance of the object is then shown on the radar display.</a:t>
            </a:r>
            <a:endParaRPr sz="3600">
              <a:solidFill>
                <a:srgbClr val="36383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" name="Google Shape;165;g42f8a12797c3796b_67"/>
          <p:cNvSpPr txBox="1"/>
          <p:nvPr/>
        </p:nvSpPr>
        <p:spPr>
          <a:xfrm>
            <a:off x="2304300" y="654881"/>
            <a:ext cx="13679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3638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CIRCUIT DIAGRAM EXPLANATION </a:t>
            </a:r>
            <a:endParaRPr sz="6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Google Shape;166;g42f8a12797c3796b_67"/>
          <p:cNvSpPr/>
          <p:nvPr/>
        </p:nvSpPr>
        <p:spPr>
          <a:xfrm rot="318674">
            <a:off x="10752226" y="9044333"/>
            <a:ext cx="415341" cy="427786"/>
          </a:xfrm>
          <a:custGeom>
            <a:rect b="b" l="l" r="r" t="t"/>
            <a:pathLst>
              <a:path extrusionOk="0" h="428090" w="415636">
                <a:moveTo>
                  <a:pt x="0" y="0"/>
                </a:moveTo>
                <a:lnTo>
                  <a:pt x="415636" y="0"/>
                </a:lnTo>
                <a:lnTo>
                  <a:pt x="415636" y="428090"/>
                </a:lnTo>
                <a:lnTo>
                  <a:pt x="0" y="4280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7" name="Google Shape;167;g42f8a12797c3796b_67"/>
          <p:cNvSpPr/>
          <p:nvPr/>
        </p:nvSpPr>
        <p:spPr>
          <a:xfrm rot="318674">
            <a:off x="8709438" y="9445454"/>
            <a:ext cx="415341" cy="427786"/>
          </a:xfrm>
          <a:custGeom>
            <a:rect b="b" l="l" r="r" t="t"/>
            <a:pathLst>
              <a:path extrusionOk="0" h="428090" w="415636">
                <a:moveTo>
                  <a:pt x="0" y="0"/>
                </a:moveTo>
                <a:lnTo>
                  <a:pt x="415637" y="0"/>
                </a:lnTo>
                <a:lnTo>
                  <a:pt x="415637" y="428090"/>
                </a:lnTo>
                <a:lnTo>
                  <a:pt x="0" y="4280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68" name="Google Shape;168;g42f8a12797c3796b_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15562028" y="-20900"/>
            <a:ext cx="2274975" cy="227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g42f8a12797c3796b_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15562028" y="-20900"/>
            <a:ext cx="2274975" cy="227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g42f8a12797c3796b_6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950" y="243050"/>
            <a:ext cx="1605725" cy="138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F1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42f8a12797c3796b_57"/>
          <p:cNvSpPr txBox="1"/>
          <p:nvPr/>
        </p:nvSpPr>
        <p:spPr>
          <a:xfrm>
            <a:off x="3075925" y="423875"/>
            <a:ext cx="125070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>
                <a:solidFill>
                  <a:srgbClr val="3638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WORKING MODEL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" name="Google Shape;176;g42f8a12797c3796b_57"/>
          <p:cNvSpPr/>
          <p:nvPr/>
        </p:nvSpPr>
        <p:spPr>
          <a:xfrm rot="318674">
            <a:off x="10752226" y="9044333"/>
            <a:ext cx="415341" cy="427786"/>
          </a:xfrm>
          <a:custGeom>
            <a:rect b="b" l="l" r="r" t="t"/>
            <a:pathLst>
              <a:path extrusionOk="0" h="428090" w="415636">
                <a:moveTo>
                  <a:pt x="0" y="0"/>
                </a:moveTo>
                <a:lnTo>
                  <a:pt x="415636" y="0"/>
                </a:lnTo>
                <a:lnTo>
                  <a:pt x="415636" y="428090"/>
                </a:lnTo>
                <a:lnTo>
                  <a:pt x="0" y="4280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7" name="Google Shape;177;g42f8a12797c3796b_57"/>
          <p:cNvSpPr/>
          <p:nvPr/>
        </p:nvSpPr>
        <p:spPr>
          <a:xfrm rot="318674">
            <a:off x="8709438" y="9445454"/>
            <a:ext cx="415341" cy="427786"/>
          </a:xfrm>
          <a:custGeom>
            <a:rect b="b" l="l" r="r" t="t"/>
            <a:pathLst>
              <a:path extrusionOk="0" h="428090" w="415636">
                <a:moveTo>
                  <a:pt x="0" y="0"/>
                </a:moveTo>
                <a:lnTo>
                  <a:pt x="415637" y="0"/>
                </a:lnTo>
                <a:lnTo>
                  <a:pt x="415637" y="428090"/>
                </a:lnTo>
                <a:lnTo>
                  <a:pt x="0" y="4280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78" name="Google Shape;178;g42f8a12797c3796b_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15562028" y="-20900"/>
            <a:ext cx="2274975" cy="227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g42f8a12797c3796b_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15562028" y="-20900"/>
            <a:ext cx="2274975" cy="227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g42f8a12797c3796b_5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950" y="243050"/>
            <a:ext cx="1605725" cy="138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g42f8a12797c3796b_5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72425" y="2274576"/>
            <a:ext cx="13289349" cy="675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F1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42f8a12797c3796b_47"/>
          <p:cNvSpPr txBox="1"/>
          <p:nvPr/>
        </p:nvSpPr>
        <p:spPr>
          <a:xfrm>
            <a:off x="1046732" y="3428998"/>
            <a:ext cx="16565400" cy="66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63837"/>
              </a:buClr>
              <a:buSzPts val="3600"/>
              <a:buFont typeface="Times New Roman"/>
              <a:buChar char="❖"/>
            </a:pPr>
            <a:r>
              <a:rPr lang="en-US" sz="3600">
                <a:solidFill>
                  <a:srgbClr val="3638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Arduino powers the ultrasonic sensor and servo motor.</a:t>
            </a:r>
            <a:endParaRPr sz="3600">
              <a:solidFill>
                <a:srgbClr val="36383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63837"/>
              </a:buClr>
              <a:buSzPts val="3600"/>
              <a:buFont typeface="Times New Roman"/>
              <a:buChar char="❖"/>
            </a:pPr>
            <a:r>
              <a:rPr lang="en-US" sz="3600">
                <a:solidFill>
                  <a:srgbClr val="3638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servo motor rotates the ultrasonic sensor from 0° to 180° to scan the area.</a:t>
            </a:r>
            <a:endParaRPr sz="3600">
              <a:solidFill>
                <a:srgbClr val="36383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63837"/>
              </a:buClr>
              <a:buSzPts val="3600"/>
              <a:buFont typeface="Times New Roman"/>
              <a:buChar char="❖"/>
            </a:pPr>
            <a:r>
              <a:rPr lang="en-US" sz="3600">
                <a:solidFill>
                  <a:srgbClr val="3638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ultrasonic sensor sends out sound waves and waits for them to bounce back from any object.</a:t>
            </a:r>
            <a:endParaRPr sz="3600">
              <a:solidFill>
                <a:srgbClr val="36383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63837"/>
              </a:buClr>
              <a:buSzPts val="3600"/>
              <a:buFont typeface="Times New Roman"/>
              <a:buChar char="❖"/>
            </a:pPr>
            <a:r>
              <a:rPr lang="en-US" sz="3600">
                <a:solidFill>
                  <a:srgbClr val="3638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Arduino measures the time taken for the waves to return and calculates the distance of the object.</a:t>
            </a:r>
            <a:endParaRPr sz="3600">
              <a:solidFill>
                <a:srgbClr val="36383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36383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" name="Google Shape;187;g42f8a12797c3796b_47"/>
          <p:cNvSpPr txBox="1"/>
          <p:nvPr/>
        </p:nvSpPr>
        <p:spPr>
          <a:xfrm>
            <a:off x="3075925" y="423875"/>
            <a:ext cx="125070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>
                <a:solidFill>
                  <a:srgbClr val="3638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WORKING MODEL EXPLANATION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" name="Google Shape;188;g42f8a12797c3796b_47"/>
          <p:cNvSpPr/>
          <p:nvPr/>
        </p:nvSpPr>
        <p:spPr>
          <a:xfrm rot="318674">
            <a:off x="10752226" y="9044333"/>
            <a:ext cx="415341" cy="427786"/>
          </a:xfrm>
          <a:custGeom>
            <a:rect b="b" l="l" r="r" t="t"/>
            <a:pathLst>
              <a:path extrusionOk="0" h="428090" w="415636">
                <a:moveTo>
                  <a:pt x="0" y="0"/>
                </a:moveTo>
                <a:lnTo>
                  <a:pt x="415636" y="0"/>
                </a:lnTo>
                <a:lnTo>
                  <a:pt x="415636" y="428090"/>
                </a:lnTo>
                <a:lnTo>
                  <a:pt x="0" y="4280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9" name="Google Shape;189;g42f8a12797c3796b_47"/>
          <p:cNvSpPr/>
          <p:nvPr/>
        </p:nvSpPr>
        <p:spPr>
          <a:xfrm rot="318674">
            <a:off x="8709438" y="9445454"/>
            <a:ext cx="415341" cy="427786"/>
          </a:xfrm>
          <a:custGeom>
            <a:rect b="b" l="l" r="r" t="t"/>
            <a:pathLst>
              <a:path extrusionOk="0" h="428090" w="415636">
                <a:moveTo>
                  <a:pt x="0" y="0"/>
                </a:moveTo>
                <a:lnTo>
                  <a:pt x="415637" y="0"/>
                </a:lnTo>
                <a:lnTo>
                  <a:pt x="415637" y="428090"/>
                </a:lnTo>
                <a:lnTo>
                  <a:pt x="0" y="4280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90" name="Google Shape;190;g42f8a12797c3796b_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15562028" y="-20900"/>
            <a:ext cx="2274975" cy="227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g42f8a12797c3796b_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15562028" y="-20900"/>
            <a:ext cx="2274975" cy="227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g42f8a12797c3796b_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950" y="243050"/>
            <a:ext cx="1605725" cy="138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F1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42f8a12797c3796b_37"/>
          <p:cNvSpPr txBox="1"/>
          <p:nvPr/>
        </p:nvSpPr>
        <p:spPr>
          <a:xfrm>
            <a:off x="1320330" y="3358559"/>
            <a:ext cx="16565400" cy="49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63837"/>
              </a:buClr>
              <a:buSzPts val="3600"/>
              <a:buFont typeface="Times New Roman"/>
              <a:buChar char="●"/>
            </a:pPr>
            <a:r>
              <a:rPr lang="en-US" sz="3600">
                <a:solidFill>
                  <a:srgbClr val="3638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 the servo rotates, the sensor keeps checking for objects in different directions.</a:t>
            </a:r>
            <a:endParaRPr sz="3600">
              <a:solidFill>
                <a:srgbClr val="36383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63837"/>
              </a:buClr>
              <a:buSzPts val="3600"/>
              <a:buFont typeface="Times New Roman"/>
              <a:buChar char="●"/>
            </a:pPr>
            <a:r>
              <a:rPr lang="en-US" sz="3600">
                <a:solidFill>
                  <a:srgbClr val="3638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distance and angle of the object are used to display the object’s position on a radar screen (in Processing software or serial monitor).</a:t>
            </a:r>
            <a:endParaRPr sz="3600">
              <a:solidFill>
                <a:srgbClr val="36383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63837"/>
              </a:buClr>
              <a:buSzPts val="3600"/>
              <a:buFont typeface="Times New Roman"/>
              <a:buChar char="●"/>
            </a:pPr>
            <a:r>
              <a:rPr lang="en-US" sz="3600">
                <a:solidFill>
                  <a:srgbClr val="3638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process repeats continuously, creating a live radar-like scanning system that detects nearby objects.</a:t>
            </a:r>
            <a:endParaRPr sz="3600">
              <a:solidFill>
                <a:srgbClr val="36383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8" name="Google Shape;198;g42f8a12797c3796b_37"/>
          <p:cNvSpPr txBox="1"/>
          <p:nvPr/>
        </p:nvSpPr>
        <p:spPr>
          <a:xfrm>
            <a:off x="3131009" y="387152"/>
            <a:ext cx="125070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>
                <a:solidFill>
                  <a:srgbClr val="3638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WORKING MODEL EXPLANATION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9" name="Google Shape;199;g42f8a12797c3796b_37"/>
          <p:cNvSpPr/>
          <p:nvPr/>
        </p:nvSpPr>
        <p:spPr>
          <a:xfrm rot="318674">
            <a:off x="10752226" y="9044333"/>
            <a:ext cx="415341" cy="427786"/>
          </a:xfrm>
          <a:custGeom>
            <a:rect b="b" l="l" r="r" t="t"/>
            <a:pathLst>
              <a:path extrusionOk="0" h="428090" w="415636">
                <a:moveTo>
                  <a:pt x="0" y="0"/>
                </a:moveTo>
                <a:lnTo>
                  <a:pt x="415636" y="0"/>
                </a:lnTo>
                <a:lnTo>
                  <a:pt x="415636" y="428090"/>
                </a:lnTo>
                <a:lnTo>
                  <a:pt x="0" y="4280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0" name="Google Shape;200;g42f8a12797c3796b_37"/>
          <p:cNvSpPr/>
          <p:nvPr/>
        </p:nvSpPr>
        <p:spPr>
          <a:xfrm rot="318674">
            <a:off x="8709438" y="9445454"/>
            <a:ext cx="415341" cy="427786"/>
          </a:xfrm>
          <a:custGeom>
            <a:rect b="b" l="l" r="r" t="t"/>
            <a:pathLst>
              <a:path extrusionOk="0" h="428090" w="415636">
                <a:moveTo>
                  <a:pt x="0" y="0"/>
                </a:moveTo>
                <a:lnTo>
                  <a:pt x="415637" y="0"/>
                </a:lnTo>
                <a:lnTo>
                  <a:pt x="415637" y="428090"/>
                </a:lnTo>
                <a:lnTo>
                  <a:pt x="0" y="4280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01" name="Google Shape;201;g42f8a12797c3796b_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15562028" y="-20900"/>
            <a:ext cx="2274975" cy="227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g42f8a12797c3796b_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15562028" y="-20900"/>
            <a:ext cx="2274975" cy="227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g42f8a12797c3796b_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950" y="243050"/>
            <a:ext cx="1605725" cy="138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F1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6"/>
          <p:cNvSpPr txBox="1"/>
          <p:nvPr/>
        </p:nvSpPr>
        <p:spPr>
          <a:xfrm>
            <a:off x="4852788" y="423888"/>
            <a:ext cx="81291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>
                <a:solidFill>
                  <a:srgbClr val="3638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" name="Google Shape;209;p6"/>
          <p:cNvSpPr txBox="1"/>
          <p:nvPr/>
        </p:nvSpPr>
        <p:spPr>
          <a:xfrm>
            <a:off x="1340375" y="2825300"/>
            <a:ext cx="15994500" cy="66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7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63837"/>
              </a:buClr>
              <a:buSzPts val="3600"/>
              <a:buFont typeface="Times New Roman"/>
              <a:buChar char="●"/>
            </a:pPr>
            <a:r>
              <a:rPr i="0" lang="en-US" sz="3600" u="none" cap="none" strike="noStrike">
                <a:solidFill>
                  <a:srgbClr val="3638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US" sz="3600">
                <a:solidFill>
                  <a:srgbClr val="3638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 radar system effectively detects and measures the distance of nearby objects using an ultrasonic sensor and Arduino.</a:t>
            </a:r>
            <a:endParaRPr sz="3600">
              <a:solidFill>
                <a:srgbClr val="36383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36383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63837"/>
              </a:buClr>
              <a:buSzPts val="3600"/>
              <a:buFont typeface="Times New Roman"/>
              <a:buChar char="●"/>
            </a:pPr>
            <a:r>
              <a:rPr lang="en-US" sz="3600">
                <a:solidFill>
                  <a:srgbClr val="3638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servo motor enables the sensor to scan a wide area, providing a clear understanding of radar operation.</a:t>
            </a:r>
            <a:endParaRPr sz="3600">
              <a:solidFill>
                <a:srgbClr val="36383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36383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63837"/>
              </a:buClr>
              <a:buSzPts val="3600"/>
              <a:buFont typeface="Times New Roman"/>
              <a:buChar char="●"/>
            </a:pPr>
            <a:r>
              <a:rPr lang="en-US" sz="3600">
                <a:solidFill>
                  <a:srgbClr val="3638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project offers a low-cost, efficient, and educational model for learning object detection and automation principles.</a:t>
            </a:r>
            <a:endParaRPr sz="3600">
              <a:solidFill>
                <a:srgbClr val="36383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0" name="Google Shape;210;p6"/>
          <p:cNvSpPr/>
          <p:nvPr/>
        </p:nvSpPr>
        <p:spPr>
          <a:xfrm rot="6092077">
            <a:off x="14964198" y="436081"/>
            <a:ext cx="2099229" cy="2268099"/>
          </a:xfrm>
          <a:custGeom>
            <a:rect b="b" l="l" r="r" t="t"/>
            <a:pathLst>
              <a:path extrusionOk="0" h="2267646" w="2098809">
                <a:moveTo>
                  <a:pt x="0" y="0"/>
                </a:moveTo>
                <a:lnTo>
                  <a:pt x="2098809" y="0"/>
                </a:lnTo>
                <a:lnTo>
                  <a:pt x="2098809" y="2267646"/>
                </a:lnTo>
                <a:lnTo>
                  <a:pt x="0" y="22676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1" name="Google Shape;211;p6"/>
          <p:cNvSpPr/>
          <p:nvPr/>
        </p:nvSpPr>
        <p:spPr>
          <a:xfrm rot="-410579">
            <a:off x="14252565" y="700576"/>
            <a:ext cx="415636" cy="428090"/>
          </a:xfrm>
          <a:custGeom>
            <a:rect b="b" l="l" r="r" t="t"/>
            <a:pathLst>
              <a:path extrusionOk="0" h="428090" w="415636">
                <a:moveTo>
                  <a:pt x="0" y="0"/>
                </a:moveTo>
                <a:lnTo>
                  <a:pt x="415636" y="0"/>
                </a:lnTo>
                <a:lnTo>
                  <a:pt x="415636" y="428090"/>
                </a:lnTo>
                <a:lnTo>
                  <a:pt x="0" y="4280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2" name="Google Shape;212;p6"/>
          <p:cNvSpPr/>
          <p:nvPr/>
        </p:nvSpPr>
        <p:spPr>
          <a:xfrm rot="-410579">
            <a:off x="12540209" y="814655"/>
            <a:ext cx="415636" cy="428090"/>
          </a:xfrm>
          <a:custGeom>
            <a:rect b="b" l="l" r="r" t="t"/>
            <a:pathLst>
              <a:path extrusionOk="0" h="428090" w="415636">
                <a:moveTo>
                  <a:pt x="0" y="0"/>
                </a:moveTo>
                <a:lnTo>
                  <a:pt x="415636" y="0"/>
                </a:lnTo>
                <a:lnTo>
                  <a:pt x="415636" y="428090"/>
                </a:lnTo>
                <a:lnTo>
                  <a:pt x="0" y="4280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3" name="Google Shape;213;p6"/>
          <p:cNvSpPr/>
          <p:nvPr/>
        </p:nvSpPr>
        <p:spPr>
          <a:xfrm rot="316995">
            <a:off x="5599666" y="9352430"/>
            <a:ext cx="415636" cy="428090"/>
          </a:xfrm>
          <a:custGeom>
            <a:rect b="b" l="l" r="r" t="t"/>
            <a:pathLst>
              <a:path extrusionOk="0" h="428090" w="415636">
                <a:moveTo>
                  <a:pt x="0" y="0"/>
                </a:moveTo>
                <a:lnTo>
                  <a:pt x="415636" y="0"/>
                </a:lnTo>
                <a:lnTo>
                  <a:pt x="415636" y="428090"/>
                </a:lnTo>
                <a:lnTo>
                  <a:pt x="0" y="4280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4" name="Google Shape;214;p6"/>
          <p:cNvSpPr/>
          <p:nvPr/>
        </p:nvSpPr>
        <p:spPr>
          <a:xfrm rot="316995">
            <a:off x="3429785" y="9352430"/>
            <a:ext cx="415636" cy="428090"/>
          </a:xfrm>
          <a:custGeom>
            <a:rect b="b" l="l" r="r" t="t"/>
            <a:pathLst>
              <a:path extrusionOk="0" h="428090" w="415636">
                <a:moveTo>
                  <a:pt x="0" y="0"/>
                </a:moveTo>
                <a:lnTo>
                  <a:pt x="415637" y="0"/>
                </a:lnTo>
                <a:lnTo>
                  <a:pt x="415637" y="428090"/>
                </a:lnTo>
                <a:lnTo>
                  <a:pt x="0" y="4280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15" name="Google Shape;215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>
            <a:off x="15562028" y="-20900"/>
            <a:ext cx="2274975" cy="227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6950" y="243050"/>
            <a:ext cx="1605725" cy="138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F1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0"/>
          <p:cNvSpPr/>
          <p:nvPr/>
        </p:nvSpPr>
        <p:spPr>
          <a:xfrm>
            <a:off x="3985649" y="2257686"/>
            <a:ext cx="11529208" cy="5771628"/>
          </a:xfrm>
          <a:custGeom>
            <a:rect b="b" l="l" r="r" t="t"/>
            <a:pathLst>
              <a:path extrusionOk="0" h="5771628" w="11529208">
                <a:moveTo>
                  <a:pt x="0" y="0"/>
                </a:moveTo>
                <a:lnTo>
                  <a:pt x="11529208" y="0"/>
                </a:lnTo>
                <a:lnTo>
                  <a:pt x="11529208" y="5771628"/>
                </a:lnTo>
                <a:lnTo>
                  <a:pt x="0" y="57716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2" name="Google Shape;222;p10"/>
          <p:cNvSpPr/>
          <p:nvPr/>
        </p:nvSpPr>
        <p:spPr>
          <a:xfrm>
            <a:off x="2962643" y="1067990"/>
            <a:ext cx="3872333" cy="10702429"/>
          </a:xfrm>
          <a:custGeom>
            <a:rect b="b" l="l" r="r" t="t"/>
            <a:pathLst>
              <a:path extrusionOk="0" h="10702429" w="3872333">
                <a:moveTo>
                  <a:pt x="0" y="0"/>
                </a:moveTo>
                <a:lnTo>
                  <a:pt x="3872333" y="0"/>
                </a:lnTo>
                <a:lnTo>
                  <a:pt x="3872333" y="10702429"/>
                </a:lnTo>
                <a:lnTo>
                  <a:pt x="0" y="107024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3" name="Google Shape;223;p10"/>
          <p:cNvSpPr txBox="1"/>
          <p:nvPr/>
        </p:nvSpPr>
        <p:spPr>
          <a:xfrm>
            <a:off x="6718391" y="3643929"/>
            <a:ext cx="7359000" cy="29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0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800" u="none" cap="none" strike="noStrike">
                <a:solidFill>
                  <a:srgbClr val="3638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</a:t>
            </a:r>
            <a:endParaRPr b="1" i="0" sz="11800" u="none" cap="none" strike="noStrike">
              <a:solidFill>
                <a:srgbClr val="36383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80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800" u="none" cap="none" strike="noStrike">
                <a:solidFill>
                  <a:srgbClr val="3638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</a:t>
            </a:r>
            <a:endParaRPr b="1" sz="1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4" name="Google Shape;224;p10"/>
          <p:cNvSpPr/>
          <p:nvPr/>
        </p:nvSpPr>
        <p:spPr>
          <a:xfrm rot="-10589788">
            <a:off x="15419893" y="365937"/>
            <a:ext cx="1773411" cy="2274291"/>
          </a:xfrm>
          <a:custGeom>
            <a:rect b="b" l="l" r="r" t="t"/>
            <a:pathLst>
              <a:path extrusionOk="0" h="3006970" w="2889954">
                <a:moveTo>
                  <a:pt x="0" y="0"/>
                </a:moveTo>
                <a:lnTo>
                  <a:pt x="2889954" y="0"/>
                </a:lnTo>
                <a:lnTo>
                  <a:pt x="2889954" y="3006970"/>
                </a:lnTo>
                <a:lnTo>
                  <a:pt x="0" y="3006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5" name="Google Shape;225;p10"/>
          <p:cNvSpPr/>
          <p:nvPr/>
        </p:nvSpPr>
        <p:spPr>
          <a:xfrm rot="316995">
            <a:off x="16824837" y="2043641"/>
            <a:ext cx="415636" cy="428090"/>
          </a:xfrm>
          <a:custGeom>
            <a:rect b="b" l="l" r="r" t="t"/>
            <a:pathLst>
              <a:path extrusionOk="0" h="428090" w="415636">
                <a:moveTo>
                  <a:pt x="0" y="0"/>
                </a:moveTo>
                <a:lnTo>
                  <a:pt x="415637" y="0"/>
                </a:lnTo>
                <a:lnTo>
                  <a:pt x="415637" y="428090"/>
                </a:lnTo>
                <a:lnTo>
                  <a:pt x="0" y="4280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6" name="Google Shape;226;p10"/>
          <p:cNvSpPr/>
          <p:nvPr/>
        </p:nvSpPr>
        <p:spPr>
          <a:xfrm rot="316995">
            <a:off x="14652080" y="1032899"/>
            <a:ext cx="415636" cy="428090"/>
          </a:xfrm>
          <a:custGeom>
            <a:rect b="b" l="l" r="r" t="t"/>
            <a:pathLst>
              <a:path extrusionOk="0" h="428090" w="415636">
                <a:moveTo>
                  <a:pt x="0" y="0"/>
                </a:moveTo>
                <a:lnTo>
                  <a:pt x="415636" y="0"/>
                </a:lnTo>
                <a:lnTo>
                  <a:pt x="415636" y="428090"/>
                </a:lnTo>
                <a:lnTo>
                  <a:pt x="0" y="4280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7" name="Google Shape;227;p10"/>
          <p:cNvSpPr/>
          <p:nvPr/>
        </p:nvSpPr>
        <p:spPr>
          <a:xfrm rot="-5124880">
            <a:off x="575378" y="7100883"/>
            <a:ext cx="2213590" cy="2391660"/>
          </a:xfrm>
          <a:custGeom>
            <a:rect b="b" l="l" r="r" t="t"/>
            <a:pathLst>
              <a:path extrusionOk="0" h="2389980" w="2212035">
                <a:moveTo>
                  <a:pt x="0" y="0"/>
                </a:moveTo>
                <a:lnTo>
                  <a:pt x="2212035" y="0"/>
                </a:lnTo>
                <a:lnTo>
                  <a:pt x="2212035" y="2389980"/>
                </a:lnTo>
                <a:lnTo>
                  <a:pt x="0" y="23899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8" name="Google Shape;228;p10"/>
          <p:cNvSpPr/>
          <p:nvPr/>
        </p:nvSpPr>
        <p:spPr>
          <a:xfrm rot="-410579">
            <a:off x="7954374" y="9281537"/>
            <a:ext cx="415636" cy="428090"/>
          </a:xfrm>
          <a:custGeom>
            <a:rect b="b" l="l" r="r" t="t"/>
            <a:pathLst>
              <a:path extrusionOk="0" h="428090" w="415636">
                <a:moveTo>
                  <a:pt x="0" y="0"/>
                </a:moveTo>
                <a:lnTo>
                  <a:pt x="415636" y="0"/>
                </a:lnTo>
                <a:lnTo>
                  <a:pt x="415636" y="428089"/>
                </a:lnTo>
                <a:lnTo>
                  <a:pt x="0" y="42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9" name="Google Shape;229;p10"/>
          <p:cNvSpPr/>
          <p:nvPr/>
        </p:nvSpPr>
        <p:spPr>
          <a:xfrm rot="-410579">
            <a:off x="820882" y="6289954"/>
            <a:ext cx="415636" cy="428090"/>
          </a:xfrm>
          <a:custGeom>
            <a:rect b="b" l="l" r="r" t="t"/>
            <a:pathLst>
              <a:path extrusionOk="0" h="428090" w="415636">
                <a:moveTo>
                  <a:pt x="0" y="0"/>
                </a:moveTo>
                <a:lnTo>
                  <a:pt x="415636" y="0"/>
                </a:lnTo>
                <a:lnTo>
                  <a:pt x="415636" y="428090"/>
                </a:lnTo>
                <a:lnTo>
                  <a:pt x="0" y="4280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0" name="Google Shape;230;p10"/>
          <p:cNvSpPr/>
          <p:nvPr/>
        </p:nvSpPr>
        <p:spPr>
          <a:xfrm rot="-410579">
            <a:off x="2206013" y="9044255"/>
            <a:ext cx="415636" cy="428090"/>
          </a:xfrm>
          <a:custGeom>
            <a:rect b="b" l="l" r="r" t="t"/>
            <a:pathLst>
              <a:path extrusionOk="0" h="428090" w="415636">
                <a:moveTo>
                  <a:pt x="0" y="0"/>
                </a:moveTo>
                <a:lnTo>
                  <a:pt x="415636" y="0"/>
                </a:lnTo>
                <a:lnTo>
                  <a:pt x="415636" y="428090"/>
                </a:lnTo>
                <a:lnTo>
                  <a:pt x="0" y="4280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